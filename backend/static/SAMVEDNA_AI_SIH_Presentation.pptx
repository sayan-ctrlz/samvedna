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9DEC-8F19-BFB3-C8C4-06862DBF3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274CD-43BB-6272-DD31-AB0781D15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52713-8272-1D51-8E6D-9D3A42D9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C2978-A102-FDDD-D22C-5F6AA9D8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07608-3BA1-E703-AEC1-A3943CB07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78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B298-089F-84BB-D66E-CE6E70DC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65E9E-C043-8D66-E4AD-E4B1023ED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583AF-486B-FF07-6933-40DC11889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11111-8115-F92A-F3F2-13961A56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06A9F-68AF-2A48-B00F-904BF35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6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798DA-31A3-67AB-292A-5B8E32C2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8C3C3-5CB0-AFE7-CDDA-03B4D6E1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AE1A2-4D82-35BD-7055-36F57A88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0421A-D352-4184-E813-2B33E25E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DDE71-2BE7-843F-AB2F-84EC7CCC5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300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26ED-DB2E-4C51-DD6E-2C6DDEF0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4DCE9-FC37-E491-94A5-37E1F39A7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AA69F-168D-6AAD-8244-FC0847A3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90FD0-142E-4ABD-69B2-02C0F8FD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D8BA6-4EF1-15CD-0712-A5EC76F9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C0421-BBB7-0FF6-82A6-A6ED7EBF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07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DEFD-0EA7-AD84-AAA9-A45434E0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E6F73-D3BD-4260-62A1-C1ADE7D1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01275-275F-8CE6-E836-FA3044861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5C144-833B-FF57-4448-BFA8EC4DC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122DC-371C-0EF0-C341-2996EC123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7BAB7-5E61-7D4F-EEE4-68C1A1E9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5ED13-27FD-C5CE-73D5-F26D6373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FD855D-B1EF-7254-F6C3-71D252DB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34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2D79-D20F-B5C6-5B51-BE4DA2DBE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BEB00-41D6-42A5-8E3F-31245570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88892-91E7-79CF-BB1B-3AB2720B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901BF-FB16-04C6-E698-07C07DDC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1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0D961-B1F9-B0A0-E520-25E4FCC5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2F7DB-F561-7837-CE80-8166E2D6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EAA45-5BA9-196F-60DE-6EF866D2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723F-9F42-327A-C695-104405B3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ED7DC-950E-581F-5E0F-4947073E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EE841-4DC5-F6C0-65AD-A0FFBC7EE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1B9EE-1124-E3D7-6709-0DF7498C4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53422-E98E-9514-BF31-83A9C823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51B4C-F602-1097-CCD9-6156DAA1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7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35E1-12AA-3DD0-1529-8D2B83DD6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43504-45ED-3BBB-4EE9-FDE51DDC6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439F1-2369-AB51-80B4-0A23A7D89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4A294-DB29-62A2-0FAD-CB465E6C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331C4-BFB1-277C-72B5-B989CCFF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9A2F3-0E46-D4EE-64AC-F48CA095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56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B819-3B00-E88B-CFB5-98F243F8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35C98-930D-A95E-8278-62837D531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20E7-C794-11AB-79CE-A33643D0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C19A2-7758-1F1C-FF76-D433C0D3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62418-4EE9-13BA-08F3-29FAF53E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97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260A7-1E4A-1B3A-6658-7F2C8DF63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50A90-7EE0-A493-30DB-B4937166D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9D8BF-BE6D-FAF9-9138-6709BD3F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2A51B-AB38-AF9B-8F28-5314B393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C9D5F-C7F4-43E3-BEDE-040BEB91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4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E84AE-94DF-6ABB-798C-F90F17C7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D975B-8C12-8DFA-0563-F94BC70C8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D82A-1A5D-C536-DACF-AE157CA79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F4B56-E721-4BE5-B315-BFBC306BEF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ED6A9-6777-3447-DBCB-F5B037CB3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C1A5-CB7D-D5C3-26BC-CED55F0C6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1B563-DBB9-4404-B870-D5D667574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52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A63BA7-6F53-2FAA-3A41-1E70A06D78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C0739-2736-0AE5-3487-343E2A6B983F}"/>
              </a:ext>
            </a:extLst>
          </p:cNvPr>
          <p:cNvSpPr txBox="1"/>
          <p:nvPr/>
        </p:nvSpPr>
        <p:spPr>
          <a:xfrm>
            <a:off x="635000" y="3556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200" b="1">
                <a:solidFill>
                  <a:srgbClr val="F59E0B"/>
                </a:solidFill>
                <a:latin typeface="Segoe UI" panose="020B0502040204020203" pitchFamily="34" charset="0"/>
              </a:rPr>
              <a:t>SMART INDIA HACKATHON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5C29D-6BE7-15C2-999B-42CEF5150EAB}"/>
              </a:ext>
            </a:extLst>
          </p:cNvPr>
          <p:cNvSpPr txBox="1"/>
          <p:nvPr/>
        </p:nvSpPr>
        <p:spPr>
          <a:xfrm>
            <a:off x="635000" y="812800"/>
            <a:ext cx="1092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TITLE PAGE -- OFFICIAL IDEA SUBMISSION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8BF478-D07C-A74B-1129-2CB4AC433910}"/>
              </a:ext>
            </a:extLst>
          </p:cNvPr>
          <p:cNvSpPr/>
          <p:nvPr/>
        </p:nvSpPr>
        <p:spPr>
          <a:xfrm>
            <a:off x="635000" y="1244600"/>
            <a:ext cx="10922000" cy="1244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89FF1-C616-2DFD-8C94-9FA76D44BF8C}"/>
              </a:ext>
            </a:extLst>
          </p:cNvPr>
          <p:cNvSpPr txBox="1"/>
          <p:nvPr/>
        </p:nvSpPr>
        <p:spPr>
          <a:xfrm>
            <a:off x="762000" y="13462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800" b="1">
                <a:solidFill>
                  <a:srgbClr val="F59E0B"/>
                </a:solidFill>
                <a:latin typeface="Segoe UI" panose="020B0502040204020203" pitchFamily="34" charset="0"/>
              </a:rPr>
              <a:t>SAMVEDNA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60225-034F-9CF1-88C8-E6AD9F9AAABF}"/>
              </a:ext>
            </a:extLst>
          </p:cNvPr>
          <p:cNvSpPr txBox="1"/>
          <p:nvPr/>
        </p:nvSpPr>
        <p:spPr>
          <a:xfrm>
            <a:off x="762000" y="1905000"/>
            <a:ext cx="1066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AI-Powered Dynamic Mental Health Monitoring and Distress Prediction System (NHAA 14566)</a:t>
            </a:r>
            <a:endParaRPr lang="en-IN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FE4774-FA09-D4A5-2112-E4F630F8DAED}"/>
              </a:ext>
            </a:extLst>
          </p:cNvPr>
          <p:cNvSpPr/>
          <p:nvPr/>
        </p:nvSpPr>
        <p:spPr>
          <a:xfrm>
            <a:off x="635000" y="2641600"/>
            <a:ext cx="10922000" cy="3492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9A84F-B564-4BBF-6888-382E8A27B74E}"/>
              </a:ext>
            </a:extLst>
          </p:cNvPr>
          <p:cNvSpPr txBox="1"/>
          <p:nvPr/>
        </p:nvSpPr>
        <p:spPr>
          <a:xfrm>
            <a:off x="952500" y="2794000"/>
            <a:ext cx="10287000" cy="16850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Problem Statement ID: 94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Problem Statement Title: AI-based Dynamic Mental Health Monitoring and Distress Prediction System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Target Ecosystem: National Helpline Against Atrocities (NHAA 14566), Integrated Portal and SC/ST (PoA) Act 1989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Theme: Smart Automation / Security and Surveillance (Vulnerable Community and Victim Protection)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PS Category: Software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Team ID: [Enter Your Team ID on Portal]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Team Name: [Enter Your Registered Team Name]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Core Innovation: In-Memory Voice Stress Analytics (Jitter/Shimmer DSP) + Multilingual Indic Emotion AI</a:t>
            </a:r>
          </a:p>
          <a:p>
            <a:r>
              <a:rPr lang="en-IN" sz="1150">
                <a:solidFill>
                  <a:srgbClr val="1E293B"/>
                </a:solidFill>
                <a:latin typeface="Segoe UI" panose="020B0502040204020203" pitchFamily="34" charset="0"/>
              </a:rPr>
              <a:t>? Beneficiaries: Atrocity complainants, rape/gang rape survivors, threatened witnesses and SC/ST families</a:t>
            </a:r>
          </a:p>
        </p:txBody>
      </p:sp>
    </p:spTree>
    <p:extLst>
      <p:ext uri="{BB962C8B-B14F-4D97-AF65-F5344CB8AC3E}">
        <p14:creationId xmlns:p14="http://schemas.microsoft.com/office/powerpoint/2010/main" val="79141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10BF2C-B351-B21B-84EC-9CFD5A13E9DB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E343D-C9C6-B76C-6FC6-C795720F2853}"/>
              </a:ext>
            </a:extLst>
          </p:cNvPr>
          <p:cNvSpPr txBox="1"/>
          <p:nvPr/>
        </p:nvSpPr>
        <p:spPr>
          <a:xfrm>
            <a:off x="444500" y="10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sv-SE" sz="1000" b="1">
                <a:solidFill>
                  <a:srgbClr val="F59E0B"/>
                </a:solidFill>
                <a:latin typeface="Segoe UI" panose="020B0502040204020203" pitchFamily="34" charset="0"/>
              </a:rPr>
              <a:t>SMART INDIA HACKATHON 2025 | PROBLEM STATEMENT ID: 94 | NHAA 14566</a:t>
            </a:r>
            <a:endParaRPr lang="en-IN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F6E20-468F-23DD-C4DA-63FD7DE8C9A3}"/>
              </a:ext>
            </a:extLst>
          </p:cNvPr>
          <p:cNvSpPr txBox="1"/>
          <p:nvPr/>
        </p:nvSpPr>
        <p:spPr>
          <a:xfrm>
            <a:off x="444500" y="342900"/>
            <a:ext cx="9525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Proposed Solution (Describe your Idea / Solution / Prototype)</a:t>
            </a:r>
            <a:endParaRPr lang="en-IN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7681F-9DD9-BBEF-5FC1-C1306115761B}"/>
              </a:ext>
            </a:extLst>
          </p:cNvPr>
          <p:cNvSpPr txBox="1"/>
          <p:nvPr/>
        </p:nvSpPr>
        <p:spPr>
          <a:xfrm>
            <a:off x="9906000" y="17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64748B"/>
                </a:solidFill>
                <a:latin typeface="Segoe UI" panose="020B0502040204020203" pitchFamily="34" charset="0"/>
              </a:rPr>
              <a:t>SAMVEDNA AI
Team Portal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80A60-DBDB-5677-FDE6-CB48B47D472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55CC2-4140-779D-C782-5A2674043806}"/>
              </a:ext>
            </a:extLst>
          </p:cNvPr>
          <p:cNvSpPr txBox="1"/>
          <p:nvPr/>
        </p:nvSpPr>
        <p:spPr>
          <a:xfrm>
            <a:off x="444500" y="6616700"/>
            <a:ext cx="1130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SIH 2025 Idea Submission Template | PS ID: 94 | Dynamic Distress Prediction System</a:t>
            </a:r>
            <a:endParaRPr lang="en-IN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BBC1BC-09FC-905B-8F58-1AB8CB40DBE3}"/>
              </a:ext>
            </a:extLst>
          </p:cNvPr>
          <p:cNvSpPr/>
          <p:nvPr/>
        </p:nvSpPr>
        <p:spPr>
          <a:xfrm>
            <a:off x="4445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78736-2690-D149-3121-19EA6B8268EB}"/>
              </a:ext>
            </a:extLst>
          </p:cNvPr>
          <p:cNvSpPr txBox="1"/>
          <p:nvPr/>
        </p:nvSpPr>
        <p:spPr>
          <a:xfrm>
            <a:off x="5715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  <a:latin typeface="Segoe UI" panose="020B0502040204020203" pitchFamily="34" charset="0"/>
              </a:rPr>
              <a:t>1. Detailed Proposed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ADB3B-C4C0-8E2D-31A5-AF252987517A}"/>
              </a:ext>
            </a:extLst>
          </p:cNvPr>
          <p:cNvSpPr txBox="1"/>
          <p:nvPr/>
        </p:nvSpPr>
        <p:spPr>
          <a:xfrm>
            <a:off x="571500" y="1447800"/>
            <a:ext cx="3365500" cy="235756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20">
                <a:solidFill>
                  <a:srgbClr val="334155"/>
                </a:solidFill>
                <a:latin typeface="Segoe UI" panose="020B0502040204020203" pitchFamily="34" charset="0"/>
              </a:rPr>
              <a:t>? Multi-Channel Periodic Engagement: Proactive check-ins via Web Portal, Mobile App, Chatbot, SMS and automated IVRS follow-up calls.
? Dual-Engine In-Memory Analysis:
  - Voice Stress Analytics (&lt;25ms DSP): Measures pitch jitter, shimmer, HNR and 4-10Hz vocal cord tremor without saving audio.
  - Multilingual Emotion AI (&lt;5ms NLP): Identifies intimidation, social ostracism and threats across Hindi, Bengali, Tamil, Telugu, English.
? Dynamic Distress Score (DDS 0-100): Continuously aggregates multi-modal signals into a longitudinal psychological well-being index.
? Automated Crisis Triage: Triggers instant alerts to counselors and district authorities when risk thresholds are breached.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97F2F4-4EFB-996F-DEE1-D907A9E41E8A}"/>
              </a:ext>
            </a:extLst>
          </p:cNvPr>
          <p:cNvSpPr/>
          <p:nvPr/>
        </p:nvSpPr>
        <p:spPr>
          <a:xfrm>
            <a:off x="42926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FCDA4-1AF2-0126-31DE-E9379B47ADFF}"/>
              </a:ext>
            </a:extLst>
          </p:cNvPr>
          <p:cNvSpPr txBox="1"/>
          <p:nvPr/>
        </p:nvSpPr>
        <p:spPr>
          <a:xfrm>
            <a:off x="44196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B45309"/>
                </a:solidFill>
                <a:latin typeface="Segoe UI" panose="020B0502040204020203" pitchFamily="34" charset="0"/>
              </a:rPr>
              <a:t>2. How It Addresses Problem</a:t>
            </a:r>
            <a:endParaRPr lang="en-IN" sz="1150" b="1">
              <a:solidFill>
                <a:srgbClr val="B45309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67279-3646-12B0-1C81-2E2D9A3A25F1}"/>
              </a:ext>
            </a:extLst>
          </p:cNvPr>
          <p:cNvSpPr txBox="1"/>
          <p:nvPr/>
        </p:nvSpPr>
        <p:spPr>
          <a:xfrm>
            <a:off x="4419600" y="1447800"/>
            <a:ext cx="3365500" cy="19328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20">
                <a:solidFill>
                  <a:srgbClr val="334155"/>
                </a:solidFill>
                <a:latin typeface="Segoe UI" panose="020B0502040204020203" pitchFamily="34" charset="0"/>
              </a:rPr>
              <a:t>? Replaces One-Time Aid with Continuous Care: Traditional mechanisms only offer post-complaint financial relief; SAMVEDNA AI monitors well-being across investigation, trial and rehabilitation.
? Prevents 'Trauma Freezing' and Silent Suffering: Detects escalating fear, court intimidation and suicidal ideation before a fatal crisis occurs.
? Protects Vulnerable Atrocity Complainants: Tailored for victims under the SC/ST (PoA) Act 1989 facing boycott or retaliation.
? Actionable Multi-Tier Interventions: Automatically routes cases for witness protection, legal aid, medical aid, or emergency relocation.</a:t>
            </a:r>
            <a:endParaRPr lang="en-IN" sz="92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F480BD-F6E8-DA57-B405-8695E6BC184B}"/>
              </a:ext>
            </a:extLst>
          </p:cNvPr>
          <p:cNvSpPr/>
          <p:nvPr/>
        </p:nvSpPr>
        <p:spPr>
          <a:xfrm>
            <a:off x="81280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A6ADD-0168-3D20-77BC-73FA0C75C624}"/>
              </a:ext>
            </a:extLst>
          </p:cNvPr>
          <p:cNvSpPr txBox="1"/>
          <p:nvPr/>
        </p:nvSpPr>
        <p:spPr>
          <a:xfrm>
            <a:off x="82550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10B981"/>
                </a:solidFill>
                <a:latin typeface="Segoe UI" panose="020B0502040204020203" pitchFamily="34" charset="0"/>
              </a:rPr>
              <a:t>3. Innovation and Uniqueness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2434C-CD26-A3F0-78AA-30DB45D6BF23}"/>
              </a:ext>
            </a:extLst>
          </p:cNvPr>
          <p:cNvSpPr txBox="1"/>
          <p:nvPr/>
        </p:nvSpPr>
        <p:spPr>
          <a:xfrm>
            <a:off x="8255000" y="1447800"/>
            <a:ext cx="3365500" cy="17912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20">
                <a:solidFill>
                  <a:srgbClr val="334155"/>
                </a:solidFill>
                <a:latin typeface="Segoe UI" panose="020B0502040204020203" pitchFamily="34" charset="0"/>
              </a:rPr>
              <a:t>? Involuntary Acoustic Biomarkers: Measures glottal frequency perturbations (Jitter &gt; 1.04%, HNR &lt; 12dB) that cannot be masked even when speaking calmly.
? Explainable AI (XAI) for Due Process: Decomposes distress scores into court-admissible SHAP evidence cards adhering to Section 61 BNSS standards.
? Zero Raw-Audio Retention (Privacy First): Audio is processed in volatile RAM buffers and wiped in &lt;25ms; 100% DPDP Act 2023 compliant.
? District, State and National Dashboards: Centralized oversight to monitor vulnerable atrocity cases across jurisdictions.</a:t>
            </a:r>
            <a:endParaRPr lang="en-IN" sz="92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59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BE0BDA-2E03-2363-68D3-1D0201DBFE76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D8C18-37A6-DED7-F35D-A23DB88C9256}"/>
              </a:ext>
            </a:extLst>
          </p:cNvPr>
          <p:cNvSpPr txBox="1"/>
          <p:nvPr/>
        </p:nvSpPr>
        <p:spPr>
          <a:xfrm>
            <a:off x="444500" y="10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sv-SE" sz="1000" b="1">
                <a:solidFill>
                  <a:srgbClr val="F59E0B"/>
                </a:solidFill>
                <a:latin typeface="Segoe UI" panose="020B0502040204020203" pitchFamily="34" charset="0"/>
              </a:rPr>
              <a:t>SMART INDIA HACKATHON 2025 | PROBLEM STATEMENT ID: 94 | NHAA 14566</a:t>
            </a:r>
            <a:endParaRPr lang="en-IN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F133F-52FF-8F33-200B-785AD28C4289}"/>
              </a:ext>
            </a:extLst>
          </p:cNvPr>
          <p:cNvSpPr txBox="1"/>
          <p:nvPr/>
        </p:nvSpPr>
        <p:spPr>
          <a:xfrm>
            <a:off x="444500" y="342900"/>
            <a:ext cx="9525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Technologies to be Used and Implementation Methodology</a:t>
            </a:r>
            <a:endParaRPr lang="en-IN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53ECD-A36D-955C-1285-E395D09B4102}"/>
              </a:ext>
            </a:extLst>
          </p:cNvPr>
          <p:cNvSpPr txBox="1"/>
          <p:nvPr/>
        </p:nvSpPr>
        <p:spPr>
          <a:xfrm>
            <a:off x="9906000" y="17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64748B"/>
                </a:solidFill>
                <a:latin typeface="Segoe UI" panose="020B0502040204020203" pitchFamily="34" charset="0"/>
              </a:rPr>
              <a:t>SAMVEDNA AI
Team Portal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588775-D83A-D7B4-DBA6-5DB3FFDBA4CC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504E0-B96B-863C-D6D9-7589BD5816EB}"/>
              </a:ext>
            </a:extLst>
          </p:cNvPr>
          <p:cNvSpPr txBox="1"/>
          <p:nvPr/>
        </p:nvSpPr>
        <p:spPr>
          <a:xfrm>
            <a:off x="444500" y="6616700"/>
            <a:ext cx="1130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SIH 2025 Idea Submission Template | PS ID: 94 | Dynamic Distress Prediction System</a:t>
            </a:r>
            <a:endParaRPr lang="en-IN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2F1054-6EBB-957D-7B79-1957551AF016}"/>
              </a:ext>
            </a:extLst>
          </p:cNvPr>
          <p:cNvSpPr/>
          <p:nvPr/>
        </p:nvSpPr>
        <p:spPr>
          <a:xfrm>
            <a:off x="444500" y="1016000"/>
            <a:ext cx="54610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0A46F-8C91-B033-2947-219090886155}"/>
              </a:ext>
            </a:extLst>
          </p:cNvPr>
          <p:cNvSpPr txBox="1"/>
          <p:nvPr/>
        </p:nvSpPr>
        <p:spPr>
          <a:xfrm>
            <a:off x="571500" y="1117600"/>
            <a:ext cx="52070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  <a:latin typeface="Segoe UI" panose="020B0502040204020203" pitchFamily="34" charset="0"/>
              </a:rPr>
              <a:t>1. Technologies and Frameworks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50499-A230-EB79-5C15-1B39A7E96132}"/>
              </a:ext>
            </a:extLst>
          </p:cNvPr>
          <p:cNvSpPr txBox="1"/>
          <p:nvPr/>
        </p:nvSpPr>
        <p:spPr>
          <a:xfrm>
            <a:off x="571500" y="1447800"/>
            <a:ext cx="5207000" cy="17912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20">
                <a:solidFill>
                  <a:srgbClr val="334155"/>
                </a:solidFill>
                <a:latin typeface="Segoe UI" panose="020B0502040204020203" pitchFamily="34" charset="0"/>
              </a:rPr>
              <a:t>? Backend and API Architecture: Python 3.11+, FastAPI (asynchronous REST and WebSocket channels), Uvicorn ASGI server.
? Audio DSP and Voice Stress Core: NumPy, SciPy (normalized autocorrelation, 75-500Hz bandpass filter, spectral power density), Librosa.
? NLP and Threat Intelligence: Vectorized Regex Lexicons, Russell 2D Circumplex (Valence-Arousal mapping) across 5 Indian languages.
? Conversational Empathy AI: Google Gemini API (Interactions API / 2.5 Flash) with deterministic local offline safety fallback.
? Monitoring Dashboards: Tailwind CSS, Chart.js (longitudinal distress trajectories), Leaflet.js (district threat heatmaps).
? Authority Dispatch Integration: CAP (Common Alerting Protocol) JSON-LD for NHAA 14566, ERSS 112 CAD and CCTNS webhooks.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6BF3D4-0954-C0A5-5297-78A6C9D4B449}"/>
              </a:ext>
            </a:extLst>
          </p:cNvPr>
          <p:cNvSpPr/>
          <p:nvPr/>
        </p:nvSpPr>
        <p:spPr>
          <a:xfrm>
            <a:off x="6096000" y="1016000"/>
            <a:ext cx="5651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F4FCB0-3824-A985-E858-4323C92A9D96}"/>
              </a:ext>
            </a:extLst>
          </p:cNvPr>
          <p:cNvSpPr txBox="1"/>
          <p:nvPr/>
        </p:nvSpPr>
        <p:spPr>
          <a:xfrm>
            <a:off x="6223000" y="1117600"/>
            <a:ext cx="5397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B45309"/>
                </a:solidFill>
                <a:latin typeface="Segoe UI" panose="020B0502040204020203" pitchFamily="34" charset="0"/>
              </a:rPr>
              <a:t>2. Implementation Methodology and Pipeline</a:t>
            </a:r>
            <a:endParaRPr lang="en-IN" sz="1150" b="1">
              <a:solidFill>
                <a:srgbClr val="B45309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B6B254-B1AF-E600-CEAA-D43DD7AB3921}"/>
              </a:ext>
            </a:extLst>
          </p:cNvPr>
          <p:cNvSpPr txBox="1"/>
          <p:nvPr/>
        </p:nvSpPr>
        <p:spPr>
          <a:xfrm>
            <a:off x="6223000" y="1447800"/>
            <a:ext cx="5397500" cy="19328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20">
                <a:solidFill>
                  <a:srgbClr val="334155"/>
                </a:solidFill>
                <a:latin typeface="Segoe UI" panose="020B0502040204020203" pitchFamily="34" charset="0"/>
              </a:rPr>
              <a:t>Step 1: Multi-Channel Check-in Ingestion
  - Web Portal, Mobile App, WhatsApp Chatbot, SMS or automated IVRS calls (NHAA 14566).
Step 2: Dual In-Memory Processing (&lt;30ms)
  - Voice Stress Analytics: Autocorrelation F0 pitch, Jitter, Shimmer, HNR, 4-10Hz tremor.
  - Multilingual Emotion AI: Threat mining, intimidation markers, and Russell affect mapping.
Step 3: Dynamic Distress Scoring (DDS Engine)
  - Multi-Modal Fusion: DDS = 0.28*Voice + 0.28*NLP + 0.20*Context + 0.16*Lang + 0.08*Env.
  - Non-linear safety triggers for weapon threats, severe intimidation and self-harm.
Step 4: Longitudinal Trajectory and Predictive Escalation
  - Identifies negative trend lines indicating emerging post-complaint psychological breakdown.
Step 5: Automated Alert and Multi-Tier Dashboards
  - Dispatches actionable risk alerts to district welfare officers, legal aid, and counselors.
  - Generates court-admissible SHAP evidence cards adhering to Section 61 BNSS standards.</a:t>
            </a:r>
          </a:p>
        </p:txBody>
      </p:sp>
    </p:spTree>
    <p:extLst>
      <p:ext uri="{BB962C8B-B14F-4D97-AF65-F5344CB8AC3E}">
        <p14:creationId xmlns:p14="http://schemas.microsoft.com/office/powerpoint/2010/main" val="155020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F9A7AD-7D9E-7A17-F180-4B37D9DF2FFA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1DE9E-4423-3CA3-B88E-B0BE20D140E0}"/>
              </a:ext>
            </a:extLst>
          </p:cNvPr>
          <p:cNvSpPr txBox="1"/>
          <p:nvPr/>
        </p:nvSpPr>
        <p:spPr>
          <a:xfrm>
            <a:off x="444500" y="10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sv-SE" sz="1000" b="1">
                <a:solidFill>
                  <a:srgbClr val="F59E0B"/>
                </a:solidFill>
                <a:latin typeface="Segoe UI" panose="020B0502040204020203" pitchFamily="34" charset="0"/>
              </a:rPr>
              <a:t>SMART INDIA HACKATHON 2025 | PROBLEM STATEMENT ID: 94 | NHAA 14566</a:t>
            </a:r>
            <a:endParaRPr lang="en-IN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1BDCA-1BA5-0142-A6CF-F01EF4319AB7}"/>
              </a:ext>
            </a:extLst>
          </p:cNvPr>
          <p:cNvSpPr txBox="1"/>
          <p:nvPr/>
        </p:nvSpPr>
        <p:spPr>
          <a:xfrm>
            <a:off x="444500" y="342900"/>
            <a:ext cx="9525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Feasibility Analysis, Potential Challenges and Mitigation Strategies</a:t>
            </a:r>
            <a:endParaRPr lang="en-IN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7C38D-77D2-D254-7651-E5896F2AFA16}"/>
              </a:ext>
            </a:extLst>
          </p:cNvPr>
          <p:cNvSpPr txBox="1"/>
          <p:nvPr/>
        </p:nvSpPr>
        <p:spPr>
          <a:xfrm>
            <a:off x="9906000" y="17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64748B"/>
                </a:solidFill>
                <a:latin typeface="Segoe UI" panose="020B0502040204020203" pitchFamily="34" charset="0"/>
              </a:rPr>
              <a:t>SAMVEDNA AI
Team Portal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5C975C-8FEF-A804-5035-98BF2A1CCB92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92890-965F-0A3A-81F7-2B214C09F699}"/>
              </a:ext>
            </a:extLst>
          </p:cNvPr>
          <p:cNvSpPr txBox="1"/>
          <p:nvPr/>
        </p:nvSpPr>
        <p:spPr>
          <a:xfrm>
            <a:off x="444500" y="6616700"/>
            <a:ext cx="1130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SIH 2025 Idea Submission Template | PS ID: 94 | Dynamic Distress Prediction System</a:t>
            </a:r>
            <a:endParaRPr lang="en-IN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90D4BC-279C-8183-1DD0-4FB99F438E4D}"/>
              </a:ext>
            </a:extLst>
          </p:cNvPr>
          <p:cNvSpPr/>
          <p:nvPr/>
        </p:nvSpPr>
        <p:spPr>
          <a:xfrm>
            <a:off x="4445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28B9F-3EB9-F089-A653-279E69700DC0}"/>
              </a:ext>
            </a:extLst>
          </p:cNvPr>
          <p:cNvSpPr txBox="1"/>
          <p:nvPr/>
        </p:nvSpPr>
        <p:spPr>
          <a:xfrm>
            <a:off x="5715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10B981"/>
                </a:solidFill>
                <a:latin typeface="Segoe UI" panose="020B0502040204020203" pitchFamily="34" charset="0"/>
              </a:rPr>
              <a:t>1. Feasibility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DDF3E-7418-FF24-AA38-100C0C186A52}"/>
              </a:ext>
            </a:extLst>
          </p:cNvPr>
          <p:cNvSpPr txBox="1"/>
          <p:nvPr/>
        </p:nvSpPr>
        <p:spPr>
          <a:xfrm>
            <a:off x="571500" y="1447800"/>
            <a:ext cx="3365500" cy="17912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20">
                <a:solidFill>
                  <a:srgbClr val="334155"/>
                </a:solidFill>
                <a:latin typeface="Segoe UI" panose="020B0502040204020203" pitchFamily="34" charset="0"/>
              </a:rPr>
              <a:t>? Zero Hardware Cost: Operates via standard smartphones, web browsers, and low-cost automated IVRS telephony for non-smartphone users.
? Ultra-Low Compute Overhead: Full DSP voice stress and NLP scoring executes in &lt;35ms on basic multi-core CPUs without requiring GPUs.
? Bandwidth Resilient: Uses in-memory 16kHz mono audio streams; operational even on low-speed 2G/3G networks in rural SC/ST habitations.
? Operational Readiness: Fully functional working prototype already developed and verified across multi-device check-in scenarios.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45F2DB-3662-4DBB-BD7D-4758BDA8B5B2}"/>
              </a:ext>
            </a:extLst>
          </p:cNvPr>
          <p:cNvSpPr/>
          <p:nvPr/>
        </p:nvSpPr>
        <p:spPr>
          <a:xfrm>
            <a:off x="42926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DE65ED-C53B-A9BB-29B8-CB2B98B3D77D}"/>
              </a:ext>
            </a:extLst>
          </p:cNvPr>
          <p:cNvSpPr txBox="1"/>
          <p:nvPr/>
        </p:nvSpPr>
        <p:spPr>
          <a:xfrm>
            <a:off x="44196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DC2626"/>
                </a:solidFill>
                <a:latin typeface="Segoe UI" panose="020B0502040204020203" pitchFamily="34" charset="0"/>
              </a:rPr>
              <a:t>2. Potential Challenges and Risks</a:t>
            </a:r>
            <a:endParaRPr lang="en-IN" sz="1150" b="1">
              <a:solidFill>
                <a:srgbClr val="DC2626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E06DE-488E-F32A-EF78-68562AD527BE}"/>
              </a:ext>
            </a:extLst>
          </p:cNvPr>
          <p:cNvSpPr txBox="1"/>
          <p:nvPr/>
        </p:nvSpPr>
        <p:spPr>
          <a:xfrm>
            <a:off x="4419600" y="1447800"/>
            <a:ext cx="3365500" cy="13665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20">
                <a:solidFill>
                  <a:srgbClr val="334155"/>
                </a:solidFill>
                <a:latin typeface="Segoe UI" panose="020B0502040204020203" pitchFamily="34" charset="0"/>
              </a:rPr>
              <a:t>? Ambient Rural Noise: Livestock, traffic, or loud household environments distorting vocal stress features.
? Victim Fear and Non-Cooperation: Fear that speaking honestly will provoke retaliation or breach confidentiality.
? Dialect and Linguistic Diversity: Slang, code-switching (Hinglish/Tanglish), and localized idioms across atrocity victims.
? False Alarm Fatigue: Over-alerting authorities during normal crying, emotional venting, or loud speaking.</a:t>
            </a:r>
            <a:endParaRPr lang="en-IN" sz="92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F775C0-18F6-1020-7800-589A0D7BA2A2}"/>
              </a:ext>
            </a:extLst>
          </p:cNvPr>
          <p:cNvSpPr/>
          <p:nvPr/>
        </p:nvSpPr>
        <p:spPr>
          <a:xfrm>
            <a:off x="81280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E4443E-55D4-E375-77F0-599A19B50BB5}"/>
              </a:ext>
            </a:extLst>
          </p:cNvPr>
          <p:cNvSpPr txBox="1"/>
          <p:nvPr/>
        </p:nvSpPr>
        <p:spPr>
          <a:xfrm>
            <a:off x="82550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  <a:latin typeface="Segoe UI" panose="020B0502040204020203" pitchFamily="34" charset="0"/>
              </a:rPr>
              <a:t>3. Mitigation Strategies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473E0-67D0-D292-2741-2EE49D9F4FCE}"/>
              </a:ext>
            </a:extLst>
          </p:cNvPr>
          <p:cNvSpPr txBox="1"/>
          <p:nvPr/>
        </p:nvSpPr>
        <p:spPr>
          <a:xfrm>
            <a:off x="8255000" y="1447800"/>
            <a:ext cx="3365500" cy="15081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20">
                <a:solidFill>
                  <a:srgbClr val="334155"/>
                </a:solidFill>
                <a:latin typeface="Segoe UI" panose="020B0502040204020203" pitchFamily="34" charset="0"/>
              </a:rPr>
              <a:t>? Glottal Harmonic Filtering: Harmonics-to-Noise Ratio (HNR) isolates vocal cords from ambient noise; noise capped at only 8% of DDS.
? DPDP Act 2023 Compliance: Zero audio persistence builds trust; victims know audio is wiped immediately from RAM.
? Multilingual Indic Corpus: Dedicated lexicons across 5 languages accommodating romanized spelling and phonetic variations.
? 2D Affect Disambiguation: Russell model separates Arousal from Valence; venting with relief is not escalated as crisis.</a:t>
            </a:r>
          </a:p>
        </p:txBody>
      </p:sp>
    </p:spTree>
    <p:extLst>
      <p:ext uri="{BB962C8B-B14F-4D97-AF65-F5344CB8AC3E}">
        <p14:creationId xmlns:p14="http://schemas.microsoft.com/office/powerpoint/2010/main" val="53240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814415-708F-FD09-241D-883359F20EF7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F73A4-8C1F-CD64-A78C-9BD0DF537452}"/>
              </a:ext>
            </a:extLst>
          </p:cNvPr>
          <p:cNvSpPr txBox="1"/>
          <p:nvPr/>
        </p:nvSpPr>
        <p:spPr>
          <a:xfrm>
            <a:off x="444500" y="10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sv-SE" sz="1000" b="1">
                <a:solidFill>
                  <a:srgbClr val="F59E0B"/>
                </a:solidFill>
                <a:latin typeface="Segoe UI" panose="020B0502040204020203" pitchFamily="34" charset="0"/>
              </a:rPr>
              <a:t>SMART INDIA HACKATHON 2025 | PROBLEM STATEMENT ID: 94 | NHAA 14566</a:t>
            </a:r>
            <a:endParaRPr lang="en-IN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B4554-A7A7-16FF-3EFF-A1E3C76A17EB}"/>
              </a:ext>
            </a:extLst>
          </p:cNvPr>
          <p:cNvSpPr txBox="1"/>
          <p:nvPr/>
        </p:nvSpPr>
        <p:spPr>
          <a:xfrm>
            <a:off x="444500" y="342900"/>
            <a:ext cx="9525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Potential Impact on Target Audience and Multi-Dimensional Benefits</a:t>
            </a:r>
            <a:endParaRPr lang="en-IN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32B5F-4352-5A5F-E62E-804AF76C4A94}"/>
              </a:ext>
            </a:extLst>
          </p:cNvPr>
          <p:cNvSpPr txBox="1"/>
          <p:nvPr/>
        </p:nvSpPr>
        <p:spPr>
          <a:xfrm>
            <a:off x="9906000" y="17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64748B"/>
                </a:solidFill>
                <a:latin typeface="Segoe UI" panose="020B0502040204020203" pitchFamily="34" charset="0"/>
              </a:rPr>
              <a:t>SAMVEDNA AI
Team Portal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D6B8B-75C9-F8A8-383A-95FF0C3624E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0D10E-2AB2-543A-6B3C-62ED111C607F}"/>
              </a:ext>
            </a:extLst>
          </p:cNvPr>
          <p:cNvSpPr txBox="1"/>
          <p:nvPr/>
        </p:nvSpPr>
        <p:spPr>
          <a:xfrm>
            <a:off x="444500" y="6616700"/>
            <a:ext cx="1130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SIH 2025 Idea Submission Template | PS ID: 94 | Dynamic Distress Prediction System</a:t>
            </a:r>
            <a:endParaRPr lang="en-IN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80979E-560F-670F-9C76-9C0AF250B056}"/>
              </a:ext>
            </a:extLst>
          </p:cNvPr>
          <p:cNvSpPr/>
          <p:nvPr/>
        </p:nvSpPr>
        <p:spPr>
          <a:xfrm>
            <a:off x="4445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026A8-0118-EB8E-D5B5-4700FE3B0B09}"/>
              </a:ext>
            </a:extLst>
          </p:cNvPr>
          <p:cNvSpPr txBox="1"/>
          <p:nvPr/>
        </p:nvSpPr>
        <p:spPr>
          <a:xfrm>
            <a:off x="5715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  <a:latin typeface="Segoe UI" panose="020B0502040204020203" pitchFamily="34" charset="0"/>
              </a:rPr>
              <a:t>1. Target Audience Impact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5D1C01-B87B-FAC3-ED0C-4C5FB6D3F054}"/>
              </a:ext>
            </a:extLst>
          </p:cNvPr>
          <p:cNvSpPr txBox="1"/>
          <p:nvPr/>
        </p:nvSpPr>
        <p:spPr>
          <a:xfrm>
            <a:off x="571500" y="1447800"/>
            <a:ext cx="3365500" cy="16496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20">
                <a:solidFill>
                  <a:srgbClr val="334155"/>
                </a:solidFill>
                <a:latin typeface="Segoe UI" panose="020B0502040204020203" pitchFamily="34" charset="0"/>
              </a:rPr>
              <a:t>? Rape and Gang Rape Survivors: Continuous trauma tracking to prevent post-assault depression, panic, and suicide.
? Threatened Witnesses and Families: Early detection of intimidation, coercion, and social boycott during ongoing trials.
? SC/ST Atrocity Complainants: Proactive safety net under SC/ST (PoA) Act 1989 ensuring victims receive rehabilitation and protection.
? Grievous Hurt and Arson Victims: Monitoring recovery milestones and identifying urgent financial or medical relief needs.</a:t>
            </a:r>
            <a:endParaRPr lang="en-IN" sz="92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E2ADDD-AF0F-3773-F0F6-65FEA4CA2CDB}"/>
              </a:ext>
            </a:extLst>
          </p:cNvPr>
          <p:cNvSpPr/>
          <p:nvPr/>
        </p:nvSpPr>
        <p:spPr>
          <a:xfrm>
            <a:off x="42926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07CB8C-B042-D0DA-7581-22B647632591}"/>
              </a:ext>
            </a:extLst>
          </p:cNvPr>
          <p:cNvSpPr txBox="1"/>
          <p:nvPr/>
        </p:nvSpPr>
        <p:spPr>
          <a:xfrm>
            <a:off x="44196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B45309"/>
                </a:solidFill>
                <a:latin typeface="Segoe UI" panose="020B0502040204020203" pitchFamily="34" charset="0"/>
              </a:rPr>
              <a:t>2. Systemic and Administrative Benefits</a:t>
            </a:r>
            <a:endParaRPr lang="en-IN" sz="1150" b="1">
              <a:solidFill>
                <a:srgbClr val="B45309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840217-10BF-9BFF-5AE6-F9875BB3CDF0}"/>
              </a:ext>
            </a:extLst>
          </p:cNvPr>
          <p:cNvSpPr txBox="1"/>
          <p:nvPr/>
        </p:nvSpPr>
        <p:spPr>
          <a:xfrm>
            <a:off x="4419600" y="1447800"/>
            <a:ext cx="3365500" cy="16496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20">
                <a:solidFill>
                  <a:srgbClr val="334155"/>
                </a:solidFill>
                <a:latin typeface="Segoe UI" panose="020B0502040204020203" pitchFamily="34" charset="0"/>
              </a:rPr>
              <a:t>? Early Crisis Detection: Catches psychological deterioration weeks before acute mental breakdown, self-harm, or witness hostility.
? Timely Intervention Deployment: Directly triggers designated officers for counseling, relocation, police protection, or compensation release.
? Strengthened Justice Delivery: Complainants feel supported by the state, reducing case withdrawals due to fear or exhaustion.
? Agency Coordination: Bridges welfare departments, legal aid authorities (NALSA), police, and district administrations.</a:t>
            </a:r>
            <a:endParaRPr lang="en-IN" sz="92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037F18-780C-B955-9EAB-36417FE0347F}"/>
              </a:ext>
            </a:extLst>
          </p:cNvPr>
          <p:cNvSpPr/>
          <p:nvPr/>
        </p:nvSpPr>
        <p:spPr>
          <a:xfrm>
            <a:off x="8128000" y="1016000"/>
            <a:ext cx="3619500" cy="5397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76C77B-E4B2-AA44-49BF-735379557F01}"/>
              </a:ext>
            </a:extLst>
          </p:cNvPr>
          <p:cNvSpPr txBox="1"/>
          <p:nvPr/>
        </p:nvSpPr>
        <p:spPr>
          <a:xfrm>
            <a:off x="8255000" y="1117600"/>
            <a:ext cx="3365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10B981"/>
                </a:solidFill>
                <a:latin typeface="Segoe UI" panose="020B0502040204020203" pitchFamily="34" charset="0"/>
              </a:rPr>
              <a:t>3. UN SDGs and Statutory Alignment</a:t>
            </a:r>
            <a:endParaRPr lang="en-IN" sz="11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376E7-A220-E86D-AF00-BBB77EE9C94C}"/>
              </a:ext>
            </a:extLst>
          </p:cNvPr>
          <p:cNvSpPr txBox="1"/>
          <p:nvPr/>
        </p:nvSpPr>
        <p:spPr>
          <a:xfrm>
            <a:off x="8255000" y="1447800"/>
            <a:ext cx="3365500" cy="16496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20">
                <a:solidFill>
                  <a:srgbClr val="334155"/>
                </a:solidFill>
                <a:latin typeface="Segoe UI" panose="020B0502040204020203" pitchFamily="34" charset="0"/>
              </a:rPr>
              <a:t>? SDG 3 (Good Health and Well-being): Target 3.4 -- Mental health support, trauma reduction, and suicide prevention among victims.
? SDG 5 (Gender Equality): Target 5.2 -- Elimination of violence and institutional secondary trauma against women.
? SDG 10 (Reduced Inequalities): Target 10.2 -- Protecting vulnerable SC/ST and marginalized communities from systemic exploitation.
? SDG 16 (Peace, Justice and Strong Institutions): Target 16.1 and 16.2 -- Ending atrocities, protecting witnesses, and ensuring fair trials.</a:t>
            </a:r>
            <a:endParaRPr lang="en-IN" sz="92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20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87AB49-29AF-7724-5714-D28719233B15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86F4B-4A8C-19FA-CC1C-8E9FB623D8CB}"/>
              </a:ext>
            </a:extLst>
          </p:cNvPr>
          <p:cNvSpPr txBox="1"/>
          <p:nvPr/>
        </p:nvSpPr>
        <p:spPr>
          <a:xfrm>
            <a:off x="444500" y="101600"/>
            <a:ext cx="889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sv-SE" sz="1000" b="1">
                <a:solidFill>
                  <a:srgbClr val="F59E0B"/>
                </a:solidFill>
                <a:latin typeface="Segoe UI" panose="020B0502040204020203" pitchFamily="34" charset="0"/>
              </a:rPr>
              <a:t>SMART INDIA HACKATHON 2025 | PROBLEM STATEMENT ID: 94 | NHAA 14566</a:t>
            </a:r>
            <a:endParaRPr lang="en-IN" sz="10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2EE5B-9CBC-5D20-9541-CCAB63A2CCD7}"/>
              </a:ext>
            </a:extLst>
          </p:cNvPr>
          <p:cNvSpPr txBox="1"/>
          <p:nvPr/>
        </p:nvSpPr>
        <p:spPr>
          <a:xfrm>
            <a:off x="444500" y="342900"/>
            <a:ext cx="9525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Details / Links of Reference Literature, Datasets and Statutory Work</a:t>
            </a:r>
            <a:endParaRPr lang="en-IN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80E24-886A-3BC3-E1F0-8FECC3375770}"/>
              </a:ext>
            </a:extLst>
          </p:cNvPr>
          <p:cNvSpPr txBox="1"/>
          <p:nvPr/>
        </p:nvSpPr>
        <p:spPr>
          <a:xfrm>
            <a:off x="9906000" y="1778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64748B"/>
                </a:solidFill>
                <a:latin typeface="Segoe UI" panose="020B0502040204020203" pitchFamily="34" charset="0"/>
              </a:rPr>
              <a:t>SAMVEDNA AI
Team Portal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19C5A7-7072-5727-F3BD-2CB9301B1F3A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D69CD-304D-0B34-19E7-1A08442CC361}"/>
              </a:ext>
            </a:extLst>
          </p:cNvPr>
          <p:cNvSpPr txBox="1"/>
          <p:nvPr/>
        </p:nvSpPr>
        <p:spPr>
          <a:xfrm>
            <a:off x="444500" y="6616700"/>
            <a:ext cx="1130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Segoe UI" panose="020B0502040204020203" pitchFamily="34" charset="0"/>
              </a:rPr>
              <a:t>SIH 2025 Idea Submission Template | PS ID: 94 | Dynamic Distress Prediction System</a:t>
            </a:r>
            <a:endParaRPr lang="en-IN" sz="8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85A9BD-F93D-1268-966D-92F531F517CC}"/>
              </a:ext>
            </a:extLst>
          </p:cNvPr>
          <p:cNvSpPr/>
          <p:nvPr/>
        </p:nvSpPr>
        <p:spPr>
          <a:xfrm>
            <a:off x="444500" y="1016000"/>
            <a:ext cx="5461000" cy="2603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AD17BC-F65B-DF91-BE27-CBEB1A63C5E7}"/>
              </a:ext>
            </a:extLst>
          </p:cNvPr>
          <p:cNvSpPr txBox="1"/>
          <p:nvPr/>
        </p:nvSpPr>
        <p:spPr>
          <a:xfrm>
            <a:off x="571500" y="1117600"/>
            <a:ext cx="52070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0F172A"/>
                </a:solidFill>
                <a:latin typeface="Segoe UI" panose="020B0502040204020203" pitchFamily="34" charset="0"/>
              </a:rPr>
              <a:t>1. Institutional Framework and Victim Research</a:t>
            </a:r>
            <a:endParaRPr lang="en-IN" sz="115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09D70-735E-ACB0-85DE-3E729974D86F}"/>
              </a:ext>
            </a:extLst>
          </p:cNvPr>
          <p:cNvSpPr txBox="1"/>
          <p:nvPr/>
        </p:nvSpPr>
        <p:spPr>
          <a:xfrm>
            <a:off x="571500" y="1447800"/>
            <a:ext cx="5207000" cy="12249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20">
                <a:solidFill>
                  <a:srgbClr val="334155"/>
                </a:solidFill>
                <a:latin typeface="Segoe UI" panose="020B0502040204020203" pitchFamily="34" charset="0"/>
              </a:rPr>
              <a:t>? National Helpline Against Atrocities (NHAA 14566): Operational framework by Ministry of Social Justice and Empowerment, Govt. of India.
? SC and ST (Prevention of Atrocities) Act, 1989: Statutory mandates for victim relief, economic rehabilitation, and witness protection.
? National Crime Records Bureau (NCRB 2022): 'Crime in India Report' -- Documenting atrocity registration, trial delays, and conviction rates.
? Trauma and Victimology Research: Porges (2011) Polyvagal Theory on vocal cord tension and tonic immobility under prolonged intimidation.</a:t>
            </a:r>
            <a:endParaRPr lang="en-IN" sz="92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0D0713-A958-4D10-E0CC-E12594DA64D6}"/>
              </a:ext>
            </a:extLst>
          </p:cNvPr>
          <p:cNvSpPr/>
          <p:nvPr/>
        </p:nvSpPr>
        <p:spPr>
          <a:xfrm>
            <a:off x="6096000" y="1016000"/>
            <a:ext cx="5651500" cy="2603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453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1776E-73AC-19EB-6876-AB0EA142E7B8}"/>
              </a:ext>
            </a:extLst>
          </p:cNvPr>
          <p:cNvSpPr txBox="1"/>
          <p:nvPr/>
        </p:nvSpPr>
        <p:spPr>
          <a:xfrm>
            <a:off x="6223000" y="1117600"/>
            <a:ext cx="5397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B45309"/>
                </a:solidFill>
                <a:latin typeface="Segoe UI" panose="020B0502040204020203" pitchFamily="34" charset="0"/>
              </a:rPr>
              <a:t>2. Acoustic and Linguistic Datasets</a:t>
            </a:r>
            <a:endParaRPr lang="en-IN" sz="1150" b="1">
              <a:solidFill>
                <a:srgbClr val="B45309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80C496-C08D-670A-2D7F-66B6B5E5242A}"/>
              </a:ext>
            </a:extLst>
          </p:cNvPr>
          <p:cNvSpPr txBox="1"/>
          <p:nvPr/>
        </p:nvSpPr>
        <p:spPr>
          <a:xfrm>
            <a:off x="6223000" y="1447800"/>
            <a:ext cx="5397500" cy="12249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20">
                <a:solidFill>
                  <a:srgbClr val="334155"/>
                </a:solidFill>
                <a:latin typeface="Segoe UI" panose="020B0502040204020203" pitchFamily="34" charset="0"/>
              </a:rPr>
              <a:t>? RAVDESS and CREMA-D: Validated multi-actor databases (14,700+ clips) calibrating acoustic distress, panic, and tremor thresholds.
? EMO-DB Database: Technical Univ. of Berlin benchmark for frequency perturbation (Jitter) under psychological duress.
? IndicNLP and Parallel Corpora: Lexical threat models across Hindi, Bengali, Tamil, Telugu, and English distress expressions.
? Synthetic Augmentation: Urban and rural noise injection (0-20 dB SNR) ensuring robustness in real-world Indian settings.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069AF2-EF17-EC35-2C98-D77B9CFC7BFE}"/>
              </a:ext>
            </a:extLst>
          </p:cNvPr>
          <p:cNvSpPr/>
          <p:nvPr/>
        </p:nvSpPr>
        <p:spPr>
          <a:xfrm>
            <a:off x="444500" y="3746500"/>
            <a:ext cx="11303000" cy="2667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A0549-6290-840F-187F-D10B4507CF52}"/>
              </a:ext>
            </a:extLst>
          </p:cNvPr>
          <p:cNvSpPr txBox="1"/>
          <p:nvPr/>
        </p:nvSpPr>
        <p:spPr>
          <a:xfrm>
            <a:off x="571500" y="3848100"/>
            <a:ext cx="110490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10B981"/>
                </a:solidFill>
                <a:latin typeface="Segoe UI" panose="020B0502040204020203" pitchFamily="34" charset="0"/>
              </a:rPr>
              <a:t>3. Technical References and Statutory Compliance</a:t>
            </a:r>
            <a:endParaRPr lang="en-IN" sz="115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FC87A8-DD69-67B6-C65E-4F5213562F8C}"/>
              </a:ext>
            </a:extLst>
          </p:cNvPr>
          <p:cNvSpPr txBox="1"/>
          <p:nvPr/>
        </p:nvSpPr>
        <p:spPr>
          <a:xfrm>
            <a:off x="571500" y="4178300"/>
            <a:ext cx="11049000" cy="65864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920">
                <a:solidFill>
                  <a:srgbClr val="334155"/>
                </a:solidFill>
                <a:latin typeface="Segoe UI" panose="020B0502040204020203" pitchFamily="34" charset="0"/>
              </a:rPr>
              <a:t>? Russell's Circumplex Affect Model: Russell, J.A. (1980) Journal of Personality and Social Psychology -- 2D Valence-Arousal mapping.
? Explainable AI (SHAP): Lundberg and Lee (NeurIPS 2017) -- Cooperative game-theory attribution for court-admissible evidence cards.
? Statutory Standards: Digital Personal Data Protection (DPDP) Act 2023 (MeitY) and Section 61 Bharatiya Nagarik Suraksha Sanhita (BNSS) 2023.
? Interoperability Standards: ITU-T Emergency Communications and Common Alerting Protocol (CAP v1.2) for ERSS 112 / CCTNS CAD dispatch.</a:t>
            </a:r>
          </a:p>
        </p:txBody>
      </p:sp>
    </p:spTree>
    <p:extLst>
      <p:ext uri="{BB962C8B-B14F-4D97-AF65-F5344CB8AC3E}">
        <p14:creationId xmlns:p14="http://schemas.microsoft.com/office/powerpoint/2010/main" val="3177789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Custom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shalu kumari</dc:creator>
  <cp:lastModifiedBy>shalu kumari</cp:lastModifiedBy>
  <cp:revision>1</cp:revision>
  <dcterms:created xsi:type="dcterms:W3CDTF">2026-09-10T14:27:21Z</dcterms:created>
  <dcterms:modified xsi:type="dcterms:W3CDTF">2026-09-10T14:27:21Z</dcterms:modified>
</cp:coreProperties>
</file>